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31720"/>
            <a:ext cx="1463040" cy="508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5B301"/>
                </a:solidFill>
                <a:latin typeface="Calibri"/>
              </a:rPr>
              <a:t>OSIP — ONE-STOP INVESTMENT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B2A6B"/>
                </a:solidFill>
                <a:latin typeface="Calibri"/>
              </a:rPr>
              <a:t>Feedback Review — Changes Made &amp; Incorporated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52A33"/>
                </a:solidFill>
                <a:latin typeface="Calibri"/>
              </a:rPr>
              <a:t>Changes have been made on the basis of the feedback received, and the requested revisions have been incorporated into the platform.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5A6370"/>
                </a:solidFill>
                <a:latin typeface="Calibri"/>
              </a:rPr>
              <a:t>This deck summarises what has been completed, what remains, and the inputs we need from your side to move into the development phase.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370"/>
                </a:solidFill>
                <a:latin typeface="Calibri"/>
              </a:rPr>
              <a:t>Source: OSIP Feedback Changes v0.1 (4 Sep 2026), 109-item log  ·  Status as of 21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B301"/>
                </a:solidFill>
                <a:latin typeface="Calibri"/>
              </a:rPr>
              <a:t>OVERALL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6B"/>
                </a:solidFill>
                <a:latin typeface="Calibri"/>
              </a:rPr>
              <a:t>Total Changes — Done vs. Pending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52A33"/>
                </a:solidFill>
                <a:latin typeface="Calibri"/>
              </a:rPr>
              <a:t>Of the 109 feedback items logged, the large majority are already implemented in the code.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7863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206240"/>
                <a:gridCol w="2377440"/>
              </a:tblGrid>
              <a:tr h="533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09728" marR="109728" marT="45720" marB="45720"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109728" marR="109728" marT="45720" marB="45720"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109728" marR="109728" marT="45720" marB="45720" anchor="ctr">
                    <a:solidFill>
                      <a:srgbClr val="1B2A6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B6D24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109728" marR="109728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52A33"/>
                          </a:solidFill>
                          <a:latin typeface="Calibri"/>
                        </a:rPr>
                        <a:t>Implemented in code as requested</a:t>
                      </a:r>
                    </a:p>
                  </a:txBody>
                  <a:tcPr marL="109728" marR="109728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B2A6B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109728" marR="109728" marT="45720" marB="45720" anchor="ctr">
                    <a:solidFill>
                      <a:srgbClr val="F3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B87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52A33"/>
                          </a:solidFill>
                          <a:latin typeface="Calibri"/>
                        </a:rPr>
                        <a:t>Partly done — a specific gap remains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B2A6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B87A00"/>
                          </a:solidFill>
                          <a:latin typeface="Calibri"/>
                        </a:rPr>
                        <a:t>Dev phase</a:t>
                      </a:r>
                    </a:p>
                  </a:txBody>
                  <a:tcPr marL="109728" marR="109728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52A33"/>
                          </a:solidFill>
                          <a:latin typeface="Calibri"/>
                        </a:rPr>
                        <a:t>Deferred to the development / build phase</a:t>
                      </a:r>
                    </a:p>
                  </a:txBody>
                  <a:tcPr marL="109728" marR="109728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B2A6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109728" marT="45720" marB="45720" anchor="ctr">
                    <a:solidFill>
                      <a:srgbClr val="F3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B02A2A"/>
                          </a:solidFill>
                          <a:latin typeface="Calibri"/>
                        </a:rPr>
                        <a:t>Not done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52A33"/>
                          </a:solidFill>
                          <a:latin typeface="Calibri"/>
                        </a:rPr>
                        <a:t>Open prototype item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B2A6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B2A6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9728" marR="109728" marT="45720" marB="45720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52A33"/>
                          </a:solidFill>
                          <a:latin typeface="Calibri"/>
                        </a:rPr>
                        <a:t>All logged feedback items</a:t>
                      </a:r>
                    </a:p>
                  </a:txBody>
                  <a:tcPr marL="109728" marR="109728" marT="45720" marB="45720"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B2A6B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109728" marR="109728" marT="45720" marB="45720" anchor="ctr">
                    <a:solidFill>
                      <a:srgbClr val="ECEF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869680" y="1965960"/>
            <a:ext cx="2681935" cy="320040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4000" b="1" i="0">
                <a:solidFill>
                  <a:srgbClr val="F5B301"/>
                </a:solidFill>
                <a:latin typeface="Calibri"/>
              </a:rPr>
              <a:t>94 / 109</a:t>
            </a:r>
          </a:p>
          <a:p>
            <a:r>
              <a:rPr sz="1600" b="0" i="0">
                <a:solidFill>
                  <a:srgbClr val="FFFFFF"/>
                </a:solidFill>
                <a:latin typeface="Calibri"/>
              </a:rPr>
              <a:t>changes completed</a:t>
            </a:r>
          </a:p>
          <a:p>
            <a:pPr>
              <a:spcBef>
                <a:spcPts val="1600"/>
              </a:spcBef>
            </a:pPr>
            <a:r>
              <a:rPr sz="1300" b="0" i="0">
                <a:solidFill>
                  <a:srgbClr val="D8DEF0"/>
                </a:solidFill>
                <a:latin typeface="Calibri"/>
              </a:rPr>
              <a:t>Remaining 15 items are either small gaps, deferred to the development phase, or awaiting a client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924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B2A6B"/>
                </a:solidFill>
                <a:latin typeface="Calibri"/>
              </a:rPr>
              <a:t>Still open: </a:t>
            </a:r>
            <a:r>
              <a:rPr sz="1300" b="0" i="0">
                <a:solidFill>
                  <a:srgbClr val="252A33"/>
                </a:solidFill>
                <a:latin typeface="Calibri"/>
              </a:rPr>
              <a:t>5 partial (items 27, 56, 58, 66, 104)  ·  6 deferred to dev phase (16, 53, 94, 95, 96, 102)  ·  1 not done (74 — dated 'coming soon' placeholders).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B301"/>
                </a:solidFill>
                <a:latin typeface="Calibri"/>
              </a:rPr>
              <a:t>BY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6B"/>
                </a:solidFill>
                <a:latin typeface="Calibri"/>
              </a:rPr>
              <a:t>What Was Addressed — Across 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188720"/>
                <a:gridCol w="1188720"/>
                <a:gridCol w="4937760"/>
              </a:tblGrid>
              <a:tr h="34137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anchor="ctr" marT="18288" marB="18288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Items</a:t>
                      </a:r>
                    </a:p>
                  </a:txBody>
                  <a:tcPr anchor="ctr" marT="18288" marB="18288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anchor="ctr" marT="18288" marB="18288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Note on remaining</a:t>
                      </a:r>
                    </a:p>
                  </a:txBody>
                  <a:tcPr anchor="ctr" marT="18288" marB="18288">
                    <a:solidFill>
                      <a:srgbClr val="1B2A6B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Homepage &amp; Hero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Navigation, Menu &amp; Search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16 breadcrumbs → dev phase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Sector Pages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copy shortening: Solar first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Regulations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27 tag chips partial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Opportunities &amp; Investment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36 server-lock at deploy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Data &amp; Insights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Login &amp; Investor Dashboard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53 captcha → dev; 56/58 partial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Forms &amp; Contact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66 states partial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Trust, Accuracy &amp; Naming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74 placeholders open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Accessibility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Technical, Perf. &amp; Privacy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94/95/96 → dev phase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Support, News &amp; Events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102 alerts → dev phase</a:t>
                      </a:r>
                    </a:p>
                  </a:txBody>
                  <a:tcPr anchor="ctr" marT="9144" marB="9144" marL="91440">
                    <a:solidFill>
                      <a:srgbClr val="F3F5F9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52A33"/>
                          </a:solidFill>
                          <a:latin typeface="Calibri"/>
                        </a:rPr>
                        <a:t>Climate Finance &amp; Partnerships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52A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6D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1">
                          <a:solidFill>
                            <a:srgbClr val="5A6370"/>
                          </a:solidFill>
                          <a:latin typeface="Calibri"/>
                        </a:rPr>
                        <a:t>109 domain decision pending</a:t>
                      </a:r>
                    </a:p>
                  </a:txBody>
                  <a:tcPr anchor="ctr" marT="9144" marB="9144"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B301"/>
                </a:solidFill>
                <a:latin typeface="Calibri"/>
              </a:rPr>
              <a:t>SECTOR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6B"/>
                </a:solidFill>
                <a:latin typeface="Calibri"/>
              </a:rPr>
              <a:t>Sectors — Solar Done as the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11535" cy="1828800"/>
          </a:xfrm>
          <a:prstGeom prst="rect">
            <a:avLst/>
          </a:prstGeom>
          <a:solidFill>
            <a:srgbClr val="F3F5F9"/>
          </a:solidFill>
          <a:ln w="19050">
            <a:solidFill>
              <a:srgbClr val="F5B3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2000" b="1" i="0">
                <a:solidFill>
                  <a:srgbClr val="1B2A6B"/>
                </a:solidFill>
                <a:latin typeface="Calibri"/>
              </a:rPr>
              <a:t>For the sector pages, we have currently edited only “Solar”.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52A33"/>
                </a:solidFill>
                <a:latin typeface="Calibri"/>
              </a:rPr>
              <a:t>Solar (DetailedSector.html) has been reworked as the approved template — shortened, investor-facing copy, standardised section order, and the new supporting components.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1B6D24"/>
                </a:solidFill>
                <a:latin typeface="Calibri"/>
              </a:rPr>
              <a:t>If this direction is acceptable to you, we will implement the same across all 10 sectors during the development phase.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B2A6B"/>
                </a:solidFill>
                <a:latin typeface="Calibri"/>
              </a:rPr>
              <a:t>Applied on the Solar template: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09115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F5B30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52A33"/>
                </a:solidFill>
                <a:latin typeface="Calibri"/>
              </a:rPr>
              <a:t>Standardised section order across the page (Overview → Key Facts → How Investors Can Participate → Regulations → Technical &amp; Safety → Finance → Opportunities → Resources).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F5B30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52A33"/>
                </a:solidFill>
                <a:latin typeface="Calibri"/>
              </a:rPr>
              <a:t>Shortened, investor-facing copy (item 23) — the same reduction to be rolled out to the other 9 sectors.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F5B30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52A33"/>
                </a:solidFill>
                <a:latin typeface="Calibri"/>
              </a:rPr>
              <a:t>Named MDAs with a one-line role note, glossary term definitions, and linked financial-institution summaries.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F5B30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52A33"/>
                </a:solidFill>
                <a:latin typeface="Calibri"/>
              </a:rPr>
              <a:t>Lazy-loaded video facade and contextual “incentives are not automatic”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B301"/>
                </a:solidFill>
                <a:latin typeface="Calibri"/>
              </a:rPr>
              <a:t>ACTION NEEDED FROM YOUR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6B"/>
                </a:solidFill>
                <a:latin typeface="Calibri"/>
              </a:rPr>
              <a:t>Major Blockers / Inputs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52A33"/>
                </a:solidFill>
                <a:latin typeface="Calibri"/>
              </a:rPr>
              <a:t>To move into the development phase without delay, we need the following from your side: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227167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2200" b="1" i="0">
                <a:solidFill>
                  <a:srgbClr val="F5B301"/>
                </a:solidFill>
                <a:latin typeface="Calibri"/>
              </a:rPr>
              <a:t>1</a:t>
            </a:r>
          </a:p>
          <a:p>
            <a:pPr>
              <a:spcBef>
                <a:spcPts val="600"/>
              </a:spcBef>
            </a:pPr>
            <a:r>
              <a:rPr sz="1900" b="1" i="0">
                <a:solidFill>
                  <a:srgbClr val="1B2A6B"/>
                </a:solidFill>
                <a:latin typeface="Calibri"/>
              </a:rPr>
              <a:t>Domain name &amp; ownership details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252A33"/>
                </a:solidFill>
                <a:latin typeface="Calibri"/>
              </a:rPr>
              <a:t>We need the confirmed domain name and its ownership / governance details (the portal-ownership model, D1 / D29).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434840"/>
            <a:ext cx="4678527" cy="5029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5B301"/>
                </a:solidFill>
                <a:latin typeface="Calibri"/>
              </a:rPr>
              <a:t>Required by 5 October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2011680"/>
            <a:ext cx="5227167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2200" b="1" i="0">
                <a:solidFill>
                  <a:srgbClr val="F5B301"/>
                </a:solidFill>
                <a:latin typeface="Calibri"/>
              </a:rPr>
              <a:t>2</a:t>
            </a:r>
          </a:p>
          <a:p>
            <a:pPr>
              <a:spcBef>
                <a:spcPts val="600"/>
              </a:spcBef>
            </a:pPr>
            <a:r>
              <a:rPr sz="1900" b="1" i="0">
                <a:solidFill>
                  <a:srgbClr val="1B2A6B"/>
                </a:solidFill>
                <a:latin typeface="Calibri"/>
              </a:rPr>
              <a:t>Content to be uploaded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252A33"/>
                </a:solidFill>
                <a:latin typeface="Calibri"/>
              </a:rPr>
              <a:t>The real content that needs to be uploaded to the platform — copy, documents, figures, contacts and imagery — to replace the current placeholders.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98767" y="4434840"/>
            <a:ext cx="4678527" cy="5029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5B301"/>
                </a:solidFill>
                <a:latin typeface="Calibri"/>
              </a:rPr>
              <a:t>Required by 5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B2A6B"/>
                </a:solidFill>
                <a:latin typeface="Calibri"/>
              </a:rPr>
              <a:t>Why it matters:  </a:t>
            </a:r>
            <a:r>
              <a:rPr sz="1300" b="0" i="0">
                <a:solidFill>
                  <a:srgbClr val="252A33"/>
                </a:solidFill>
                <a:latin typeface="Calibri"/>
              </a:rPr>
              <a:t>these two inputs are the primary blockers. Development can proceed on schedule only once the domain/ownership is confirmed and the content package is received.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B301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2A6B"/>
                </a:solidFill>
                <a:latin typeface="Calibri"/>
              </a:rPr>
              <a:t>What We Need Next —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834640" cy="128016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700" b="1" i="0">
                <a:solidFill>
                  <a:srgbClr val="F5B301"/>
                </a:solidFill>
                <a:latin typeface="Calibri"/>
              </a:rPr>
              <a:t>Within the next 3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3320" y="1463040"/>
            <a:ext cx="7848295" cy="128016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1B2A6B"/>
                </a:solidFill>
                <a:latin typeface="Calibri"/>
              </a:rPr>
              <a:t>Please share your feedback on the design changes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52A33"/>
                </a:solidFill>
                <a:latin typeface="Calibri"/>
              </a:rPr>
              <a:t>We would like your review of the design changes (and any other revisions) within the next three days, so we can finalise and incorporate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71800"/>
            <a:ext cx="2834640" cy="128016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700" b="1" i="0">
                <a:solidFill>
                  <a:srgbClr val="F5B301"/>
                </a:solidFill>
                <a:latin typeface="Calibri"/>
              </a:rPr>
              <a:t>By 1 October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971800"/>
            <a:ext cx="7848295" cy="128016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1B2A6B"/>
                </a:solidFill>
                <a:latin typeface="Calibri"/>
              </a:rPr>
              <a:t>We will be ready with the agreed changes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52A33"/>
                </a:solidFill>
                <a:latin typeface="Calibri"/>
              </a:rPr>
              <a:t>We will have the requested design and review changes ready and incorporated by 1 October.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80560"/>
            <a:ext cx="2834640" cy="128016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700" b="1" i="0">
                <a:solidFill>
                  <a:srgbClr val="F5B301"/>
                </a:solidFill>
                <a:latin typeface="Calibri"/>
              </a:rPr>
              <a:t>By 5 October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4480560"/>
            <a:ext cx="7848295" cy="128016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1B2A6B"/>
                </a:solidFill>
                <a:latin typeface="Calibri"/>
              </a:rPr>
              <a:t>Domain name &amp; ownership + content to upload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52A33"/>
                </a:solidFill>
                <a:latin typeface="Calibri"/>
              </a:rPr>
              <a:t>We need the confirmed domain name / ownership details and the content package to be uploaded, so development can proceed.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